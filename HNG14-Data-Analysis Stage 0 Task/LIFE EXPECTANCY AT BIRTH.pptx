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3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omePC\Downloads\Life%20Expectancy%20at%20Birth%20Analysis.csv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omePC\Downloads\Life%20Expectancy%20at%20Birth%20Analysis.csv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omePC\Downloads\Life%20Expectancy%20at%20Birth%20Analysis.csv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omePC\Downloads\Life%20Expectancy%20at%20Birth%20Analysis.csv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C:\Users\HomePC\Downloads\Life%20Expectancy%20at%20Birth%20Analysis.csv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[Life Expectancy at Birth Analysis.csv.xlsx]GLOBAL TREND!PivotTable1</c:name>
    <c:fmtId val="2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>
                <a:solidFill>
                  <a:schemeClr val="accent1"/>
                </a:solidFill>
              </a:rPr>
              <a:t>GLOBAL LIFE EXPECTANCY TREND(2000–2021</a:t>
            </a:r>
            <a:r>
              <a:rPr lang="en-US" sz="1400" b="0" i="0" u="none" strike="noStrike" baseline="0"/>
              <a:t>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'GLOBAL TREND'!$B$3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'GLOBAL TREND'!$A$4:$A$26</c:f>
              <c:strCache>
                <c:ptCount val="22"/>
                <c:pt idx="0">
                  <c:v>2019</c:v>
                </c:pt>
                <c:pt idx="1">
                  <c:v>2018</c:v>
                </c:pt>
                <c:pt idx="2">
                  <c:v>2017</c:v>
                </c:pt>
                <c:pt idx="3">
                  <c:v>2020</c:v>
                </c:pt>
                <c:pt idx="4">
                  <c:v>2016</c:v>
                </c:pt>
                <c:pt idx="5">
                  <c:v>2015</c:v>
                </c:pt>
                <c:pt idx="6">
                  <c:v>2014</c:v>
                </c:pt>
                <c:pt idx="7">
                  <c:v>2013</c:v>
                </c:pt>
                <c:pt idx="8">
                  <c:v>2021</c:v>
                </c:pt>
                <c:pt idx="9">
                  <c:v>2012</c:v>
                </c:pt>
                <c:pt idx="10">
                  <c:v>2011</c:v>
                </c:pt>
                <c:pt idx="11">
                  <c:v>2010</c:v>
                </c:pt>
                <c:pt idx="12">
                  <c:v>2009</c:v>
                </c:pt>
                <c:pt idx="13">
                  <c:v>2008</c:v>
                </c:pt>
                <c:pt idx="14">
                  <c:v>2007</c:v>
                </c:pt>
                <c:pt idx="15">
                  <c:v>2006</c:v>
                </c:pt>
                <c:pt idx="16">
                  <c:v>2005</c:v>
                </c:pt>
                <c:pt idx="17">
                  <c:v>2004</c:v>
                </c:pt>
                <c:pt idx="18">
                  <c:v>2003</c:v>
                </c:pt>
                <c:pt idx="19">
                  <c:v>2002</c:v>
                </c:pt>
                <c:pt idx="20">
                  <c:v>2001</c:v>
                </c:pt>
                <c:pt idx="21">
                  <c:v>2000</c:v>
                </c:pt>
              </c:strCache>
            </c:strRef>
          </c:cat>
          <c:val>
            <c:numRef>
              <c:f>'GLOBAL TREND'!$B$4:$B$26</c:f>
              <c:numCache>
                <c:formatCode>0</c:formatCode>
                <c:ptCount val="22"/>
                <c:pt idx="0">
                  <c:v>72.650739571598606</c:v>
                </c:pt>
                <c:pt idx="1">
                  <c:v>72.448233256496607</c:v>
                </c:pt>
                <c:pt idx="2">
                  <c:v>72.204529260816201</c:v>
                </c:pt>
                <c:pt idx="3">
                  <c:v>72.095014581139338</c:v>
                </c:pt>
                <c:pt idx="4">
                  <c:v>71.98083151600342</c:v>
                </c:pt>
                <c:pt idx="5">
                  <c:v>71.718778423384336</c:v>
                </c:pt>
                <c:pt idx="6">
                  <c:v>71.532083385374165</c:v>
                </c:pt>
                <c:pt idx="7">
                  <c:v>71.370380093928489</c:v>
                </c:pt>
                <c:pt idx="8">
                  <c:v>71.314179522295902</c:v>
                </c:pt>
                <c:pt idx="9">
                  <c:v>71.055922461717699</c:v>
                </c:pt>
                <c:pt idx="10">
                  <c:v>70.738772645850375</c:v>
                </c:pt>
                <c:pt idx="11">
                  <c:v>70.328477888180259</c:v>
                </c:pt>
                <c:pt idx="12">
                  <c:v>70.061263872891189</c:v>
                </c:pt>
                <c:pt idx="13">
                  <c:v>69.664641123180317</c:v>
                </c:pt>
                <c:pt idx="14">
                  <c:v>69.326212968333252</c:v>
                </c:pt>
                <c:pt idx="15">
                  <c:v>68.956155836870778</c:v>
                </c:pt>
                <c:pt idx="16">
                  <c:v>68.510541917704018</c:v>
                </c:pt>
                <c:pt idx="17">
                  <c:v>68.152392865986428</c:v>
                </c:pt>
                <c:pt idx="18">
                  <c:v>67.816733247567953</c:v>
                </c:pt>
                <c:pt idx="19">
                  <c:v>67.54221050134359</c:v>
                </c:pt>
                <c:pt idx="20">
                  <c:v>67.309409764863872</c:v>
                </c:pt>
                <c:pt idx="21">
                  <c:v>66.982075325646207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98C-4019-A69D-745BA3F735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23043472"/>
        <c:axId val="1623040592"/>
      </c:lineChart>
      <c:catAx>
        <c:axId val="1623043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3040592"/>
        <c:crosses val="autoZero"/>
        <c:auto val="1"/>
        <c:lblAlgn val="ctr"/>
        <c:lblOffset val="100"/>
        <c:noMultiLvlLbl val="0"/>
      </c:catAx>
      <c:valAx>
        <c:axId val="16230405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3043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[Life Expectancy at Birth Analysis.csv.xlsx]LIFE EXPEXTANCY TOP TEN!PivotTable4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1">
                <a:solidFill>
                  <a:schemeClr val="accent1"/>
                </a:solidFill>
              </a:rPr>
              <a:t>TOP TEN COUNTRIES BY LIFE EXPECTANCY</a:t>
            </a:r>
          </a:p>
        </c:rich>
      </c:tx>
      <c:layout>
        <c:manualLayout>
          <c:xMode val="edge"/>
          <c:yMode val="edge"/>
          <c:x val="0.17643773121336387"/>
          <c:y val="3.60360360360360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'LIFE EXPEXTANCY TOP TEN'!$B$3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'LIFE EXPEXTANCY TOP TEN'!$A$4:$A$14</c:f>
              <c:strCache>
                <c:ptCount val="10"/>
                <c:pt idx="0">
                  <c:v>Japan</c:v>
                </c:pt>
                <c:pt idx="1">
                  <c:v>Switzerland</c:v>
                </c:pt>
                <c:pt idx="2">
                  <c:v>Australia</c:v>
                </c:pt>
                <c:pt idx="3">
                  <c:v>Singapore</c:v>
                </c:pt>
                <c:pt idx="4">
                  <c:v>Iceland</c:v>
                </c:pt>
                <c:pt idx="5">
                  <c:v>Italy</c:v>
                </c:pt>
                <c:pt idx="6">
                  <c:v>Spain</c:v>
                </c:pt>
                <c:pt idx="7">
                  <c:v>Sweden</c:v>
                </c:pt>
                <c:pt idx="8">
                  <c:v>France</c:v>
                </c:pt>
                <c:pt idx="9">
                  <c:v>Luxembourg</c:v>
                </c:pt>
              </c:strCache>
            </c:strRef>
          </c:cat>
          <c:val>
            <c:numRef>
              <c:f>'LIFE EXPEXTANCY TOP TEN'!$B$4:$B$14</c:f>
              <c:numCache>
                <c:formatCode>0</c:formatCode>
                <c:ptCount val="10"/>
                <c:pt idx="0">
                  <c:v>83.162066088030301</c:v>
                </c:pt>
                <c:pt idx="1">
                  <c:v>81.926415873030308</c:v>
                </c:pt>
                <c:pt idx="2">
                  <c:v>81.735939915000003</c:v>
                </c:pt>
                <c:pt idx="3">
                  <c:v>81.672171084999988</c:v>
                </c:pt>
                <c:pt idx="4">
                  <c:v>81.518940393181836</c:v>
                </c:pt>
                <c:pt idx="5">
                  <c:v>81.442308269090944</c:v>
                </c:pt>
                <c:pt idx="6">
                  <c:v>81.342748436363664</c:v>
                </c:pt>
                <c:pt idx="7">
                  <c:v>81.195066942727323</c:v>
                </c:pt>
                <c:pt idx="8">
                  <c:v>80.99468840863635</c:v>
                </c:pt>
                <c:pt idx="9">
                  <c:v>80.979243347424244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28-41AE-88DB-12BE46EEDD6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43610304"/>
        <c:axId val="1443611264"/>
      </c:barChart>
      <c:catAx>
        <c:axId val="1443610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3611264"/>
        <c:crosses val="autoZero"/>
        <c:auto val="1"/>
        <c:lblAlgn val="ctr"/>
        <c:lblOffset val="100"/>
        <c:noMultiLvlLbl val="0"/>
      </c:catAx>
      <c:valAx>
        <c:axId val="1443611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3610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[Life Expectancy at Birth Analysis.csv.xlsx]LIFE EXPECTANCY BOTTOM TEN!PivotTable12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accent1"/>
                </a:solidFill>
              </a:rPr>
              <a:t>LIFE EXPECTANCY BY COUNTRY:LOWEST TEN</a:t>
            </a:r>
          </a:p>
        </c:rich>
      </c:tx>
      <c:layout>
        <c:manualLayout>
          <c:xMode val="edge"/>
          <c:yMode val="edge"/>
          <c:x val="8.4166666666666654E-2"/>
          <c:y val="2.26628895184135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'LIFE EXPECTANCY BOTTOM TEN'!$B$3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'LIFE EXPECTANCY BOTTOM TEN'!$A$4:$A$14</c:f>
              <c:strCache>
                <c:ptCount val="10"/>
                <c:pt idx="0">
                  <c:v>Chad</c:v>
                </c:pt>
                <c:pt idx="1">
                  <c:v>Zambia</c:v>
                </c:pt>
                <c:pt idx="2">
                  <c:v>Sierra Leone</c:v>
                </c:pt>
                <c:pt idx="3">
                  <c:v>Guinea-Bissau</c:v>
                </c:pt>
                <c:pt idx="4">
                  <c:v>Mozambique</c:v>
                </c:pt>
                <c:pt idx="5">
                  <c:v>Zimbabwe</c:v>
                </c:pt>
                <c:pt idx="6">
                  <c:v>Somalia</c:v>
                </c:pt>
                <c:pt idx="7">
                  <c:v>Central African Republic</c:v>
                </c:pt>
                <c:pt idx="8">
                  <c:v>Eswatini</c:v>
                </c:pt>
                <c:pt idx="9">
                  <c:v>Lesotho</c:v>
                </c:pt>
              </c:strCache>
            </c:strRef>
          </c:cat>
          <c:val>
            <c:numRef>
              <c:f>'LIFE EXPECTANCY BOTTOM TEN'!$B$4:$B$14</c:f>
              <c:numCache>
                <c:formatCode>0</c:formatCode>
                <c:ptCount val="10"/>
                <c:pt idx="0">
                  <c:v>55.607304918636359</c:v>
                </c:pt>
                <c:pt idx="1">
                  <c:v>55.438373945151511</c:v>
                </c:pt>
                <c:pt idx="2">
                  <c:v>55.315596724242425</c:v>
                </c:pt>
                <c:pt idx="3">
                  <c:v>55.115300310454543</c:v>
                </c:pt>
                <c:pt idx="4">
                  <c:v>54.235878754999995</c:v>
                </c:pt>
                <c:pt idx="5">
                  <c:v>52.071630694545455</c:v>
                </c:pt>
                <c:pt idx="6">
                  <c:v>51.305412556969692</c:v>
                </c:pt>
                <c:pt idx="7">
                  <c:v>48.887849022727266</c:v>
                </c:pt>
                <c:pt idx="8">
                  <c:v>48.353559995909102</c:v>
                </c:pt>
                <c:pt idx="9">
                  <c:v>48.094219327575772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53-4AA1-B741-0F1D017B5D6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635894832"/>
        <c:axId val="1635895312"/>
      </c:barChart>
      <c:catAx>
        <c:axId val="1635894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5895312"/>
        <c:crosses val="autoZero"/>
        <c:auto val="1"/>
        <c:lblAlgn val="ctr"/>
        <c:lblOffset val="100"/>
        <c:noMultiLvlLbl val="0"/>
      </c:catAx>
      <c:valAx>
        <c:axId val="1635895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5894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[Life Expectancy at Birth Analysis.csv.xlsx]NIGERIA COMPARISM!PivotTable8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baseline="0">
                <a:solidFill>
                  <a:schemeClr val="accent1"/>
                </a:solidFill>
              </a:rPr>
              <a:t>LIFE EXPECTANCY TREND: NIGERIA VS OTHERS</a:t>
            </a:r>
            <a:endParaRPr lang="en-US" b="1">
              <a:solidFill>
                <a:schemeClr val="accent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'NIGERIA COMPARISM'!$B$3:$B$4</c:f>
              <c:strCache>
                <c:ptCount val="1"/>
                <c:pt idx="0">
                  <c:v>India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'NIGERIA COMPARISM'!$A$5:$A$27</c:f>
              <c:strCache>
                <c:ptCount val="2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</c:strCache>
            </c:strRef>
          </c:cat>
          <c:val>
            <c:numRef>
              <c:f>'NIGERIA COMPARISM'!$B$5:$B$27</c:f>
              <c:numCache>
                <c:formatCode>0</c:formatCode>
                <c:ptCount val="22"/>
                <c:pt idx="0">
                  <c:v>63.221872063333336</c:v>
                </c:pt>
                <c:pt idx="1">
                  <c:v>63.684924779999996</c:v>
                </c:pt>
                <c:pt idx="2">
                  <c:v>64.195235956666664</c:v>
                </c:pt>
                <c:pt idx="3">
                  <c:v>64.617438156666665</c:v>
                </c:pt>
                <c:pt idx="4">
                  <c:v>65.105782923333336</c:v>
                </c:pt>
                <c:pt idx="5">
                  <c:v>65.570400986666655</c:v>
                </c:pt>
                <c:pt idx="6">
                  <c:v>65.917424736666661</c:v>
                </c:pt>
                <c:pt idx="7">
                  <c:v>66.139026720000004</c:v>
                </c:pt>
                <c:pt idx="8">
                  <c:v>66.477500893333342</c:v>
                </c:pt>
                <c:pt idx="9">
                  <c:v>67.101342403333334</c:v>
                </c:pt>
                <c:pt idx="10">
                  <c:v>67.539019386666666</c:v>
                </c:pt>
                <c:pt idx="11">
                  <c:v>67.898488870000008</c:v>
                </c:pt>
                <c:pt idx="12">
                  <c:v>68.274884063333332</c:v>
                </c:pt>
                <c:pt idx="13">
                  <c:v>68.560010829999996</c:v>
                </c:pt>
                <c:pt idx="14">
                  <c:v>68.969414276666669</c:v>
                </c:pt>
                <c:pt idx="15">
                  <c:v>69.421058893333324</c:v>
                </c:pt>
                <c:pt idx="16">
                  <c:v>69.818162240000007</c:v>
                </c:pt>
                <c:pt idx="17">
                  <c:v>70.095969296666667</c:v>
                </c:pt>
                <c:pt idx="18">
                  <c:v>70.394262873333332</c:v>
                </c:pt>
                <c:pt idx="19">
                  <c:v>70.771411683333326</c:v>
                </c:pt>
                <c:pt idx="20">
                  <c:v>70.256829266666671</c:v>
                </c:pt>
                <c:pt idx="21">
                  <c:v>67.366450023333343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36F-46FA-880E-222A3FD4F34A}"/>
            </c:ext>
          </c:extLst>
        </c:ser>
        <c:ser>
          <c:idx val="1"/>
          <c:order val="1"/>
          <c:tx>
            <c:strRef>
              <c:f>'NIGERIA COMPARISM'!$C$3:$C$4</c:f>
              <c:strCache>
                <c:ptCount val="1"/>
                <c:pt idx="0">
                  <c:v>Nigeria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'NIGERIA COMPARISM'!$A$5:$A$27</c:f>
              <c:strCache>
                <c:ptCount val="2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</c:strCache>
            </c:strRef>
          </c:cat>
          <c:val>
            <c:numRef>
              <c:f>'NIGERIA COMPARISM'!$C$5:$C$27</c:f>
              <c:numCache>
                <c:formatCode>0</c:formatCode>
                <c:ptCount val="22"/>
                <c:pt idx="0">
                  <c:v>54.074378489999994</c:v>
                </c:pt>
                <c:pt idx="1">
                  <c:v>54.489031843333329</c:v>
                </c:pt>
                <c:pt idx="2">
                  <c:v>54.978866046666667</c:v>
                </c:pt>
                <c:pt idx="3">
                  <c:v>55.599268599999995</c:v>
                </c:pt>
                <c:pt idx="4">
                  <c:v>56.205053200000002</c:v>
                </c:pt>
                <c:pt idx="5">
                  <c:v>56.932500576666662</c:v>
                </c:pt>
                <c:pt idx="6">
                  <c:v>57.567726010000001</c:v>
                </c:pt>
                <c:pt idx="7">
                  <c:v>58.192786506666664</c:v>
                </c:pt>
                <c:pt idx="8">
                  <c:v>58.764229916666665</c:v>
                </c:pt>
                <c:pt idx="9">
                  <c:v>59.318221986666664</c:v>
                </c:pt>
                <c:pt idx="10">
                  <c:v>59.804662343333327</c:v>
                </c:pt>
                <c:pt idx="11">
                  <c:v>60.214875183333334</c:v>
                </c:pt>
                <c:pt idx="12">
                  <c:v>60.661530239999998</c:v>
                </c:pt>
                <c:pt idx="13">
                  <c:v>61.062875876666673</c:v>
                </c:pt>
                <c:pt idx="14">
                  <c:v>61.399318649999998</c:v>
                </c:pt>
                <c:pt idx="15">
                  <c:v>61.756311066666662</c:v>
                </c:pt>
                <c:pt idx="16">
                  <c:v>62.069015749999998</c:v>
                </c:pt>
                <c:pt idx="17">
                  <c:v>62.382382083333333</c:v>
                </c:pt>
                <c:pt idx="18">
                  <c:v>62.705759960000002</c:v>
                </c:pt>
                <c:pt idx="19">
                  <c:v>63.085143753333334</c:v>
                </c:pt>
                <c:pt idx="20">
                  <c:v>62.864022200000001</c:v>
                </c:pt>
                <c:pt idx="21">
                  <c:v>63.414650083333335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36F-46FA-880E-222A3FD4F34A}"/>
            </c:ext>
          </c:extLst>
        </c:ser>
        <c:ser>
          <c:idx val="2"/>
          <c:order val="2"/>
          <c:tx>
            <c:strRef>
              <c:f>'NIGERIA COMPARISM'!$D$3:$D$4</c:f>
              <c:strCache>
                <c:ptCount val="1"/>
                <c:pt idx="0">
                  <c:v>South Africa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'NIGERIA COMPARISM'!$A$5:$A$27</c:f>
              <c:strCache>
                <c:ptCount val="2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</c:strCache>
            </c:strRef>
          </c:cat>
          <c:val>
            <c:numRef>
              <c:f>'NIGERIA COMPARISM'!$D$5:$D$27</c:f>
              <c:numCache>
                <c:formatCode>0</c:formatCode>
                <c:ptCount val="22"/>
                <c:pt idx="0">
                  <c:v>56.965598233333331</c:v>
                </c:pt>
                <c:pt idx="1">
                  <c:v>55.712999023333339</c:v>
                </c:pt>
                <c:pt idx="2">
                  <c:v>54.16922928666667</c:v>
                </c:pt>
                <c:pt idx="3">
                  <c:v>52.786676389999997</c:v>
                </c:pt>
                <c:pt idx="4">
                  <c:v>52.098064666666666</c:v>
                </c:pt>
                <c:pt idx="5">
                  <c:v>51.883924076666666</c:v>
                </c:pt>
                <c:pt idx="6">
                  <c:v>51.963256546666663</c:v>
                </c:pt>
                <c:pt idx="7">
                  <c:v>52.766944133333332</c:v>
                </c:pt>
                <c:pt idx="8">
                  <c:v>53.772203810000008</c:v>
                </c:pt>
                <c:pt idx="9">
                  <c:v>55.129977310000008</c:v>
                </c:pt>
                <c:pt idx="10">
                  <c:v>56.953714133333335</c:v>
                </c:pt>
                <c:pt idx="11">
                  <c:v>58.956621716666668</c:v>
                </c:pt>
                <c:pt idx="12">
                  <c:v>60.677437980000001</c:v>
                </c:pt>
                <c:pt idx="13">
                  <c:v>61.953855949999998</c:v>
                </c:pt>
                <c:pt idx="14">
                  <c:v>62.658736093333324</c:v>
                </c:pt>
                <c:pt idx="15">
                  <c:v>63.149782963333337</c:v>
                </c:pt>
                <c:pt idx="16">
                  <c:v>63.767469956666666</c:v>
                </c:pt>
                <c:pt idx="17">
                  <c:v>64.631701523333334</c:v>
                </c:pt>
                <c:pt idx="18">
                  <c:v>65.200555176666668</c:v>
                </c:pt>
                <c:pt idx="19">
                  <c:v>65.727437873333329</c:v>
                </c:pt>
                <c:pt idx="20">
                  <c:v>64.258240000000001</c:v>
                </c:pt>
                <c:pt idx="21">
                  <c:v>61.47256044666667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36F-46FA-880E-222A3FD4F34A}"/>
            </c:ext>
          </c:extLst>
        </c:ser>
        <c:ser>
          <c:idx val="3"/>
          <c:order val="3"/>
          <c:tx>
            <c:strRef>
              <c:f>'NIGERIA COMPARISM'!$E$3:$E$4</c:f>
              <c:strCache>
                <c:ptCount val="1"/>
                <c:pt idx="0">
                  <c:v>United Kingdom of Great Britain and Northern Ireland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'NIGERIA COMPARISM'!$A$5:$A$27</c:f>
              <c:strCache>
                <c:ptCount val="2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</c:strCache>
            </c:strRef>
          </c:cat>
          <c:val>
            <c:numRef>
              <c:f>'NIGERIA COMPARISM'!$E$5:$E$27</c:f>
              <c:numCache>
                <c:formatCode>0</c:formatCode>
                <c:ptCount val="22"/>
                <c:pt idx="0">
                  <c:v>77.814251023333341</c:v>
                </c:pt>
                <c:pt idx="1">
                  <c:v>77.912684620000007</c:v>
                </c:pt>
                <c:pt idx="2">
                  <c:v>78.043838009999988</c:v>
                </c:pt>
                <c:pt idx="3">
                  <c:v>78.115081653333334</c:v>
                </c:pt>
                <c:pt idx="4">
                  <c:v>78.643000446666662</c:v>
                </c:pt>
                <c:pt idx="5">
                  <c:v>78.881254176666673</c:v>
                </c:pt>
                <c:pt idx="6">
                  <c:v>79.195695743333332</c:v>
                </c:pt>
                <c:pt idx="7">
                  <c:v>79.389053243333322</c:v>
                </c:pt>
                <c:pt idx="8">
                  <c:v>79.513824026666668</c:v>
                </c:pt>
                <c:pt idx="9">
                  <c:v>80.00637914666666</c:v>
                </c:pt>
                <c:pt idx="10">
                  <c:v>80.229785976666662</c:v>
                </c:pt>
                <c:pt idx="11">
                  <c:v>80.618435849999983</c:v>
                </c:pt>
                <c:pt idx="12">
                  <c:v>80.617801096666668</c:v>
                </c:pt>
                <c:pt idx="13">
                  <c:v>80.66607690666666</c:v>
                </c:pt>
                <c:pt idx="14">
                  <c:v>80.916885556666671</c:v>
                </c:pt>
                <c:pt idx="15">
                  <c:v>80.645116786666662</c:v>
                </c:pt>
                <c:pt idx="16">
                  <c:v>80.796491726666673</c:v>
                </c:pt>
                <c:pt idx="17">
                  <c:v>80.913224110000002</c:v>
                </c:pt>
                <c:pt idx="18">
                  <c:v>80.616314626666664</c:v>
                </c:pt>
                <c:pt idx="19">
                  <c:v>81.21297181333334</c:v>
                </c:pt>
                <c:pt idx="20">
                  <c:v>80.14263193666666</c:v>
                </c:pt>
                <c:pt idx="21">
                  <c:v>80.101861999999997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36F-46FA-880E-222A3FD4F34A}"/>
            </c:ext>
          </c:extLst>
        </c:ser>
        <c:ser>
          <c:idx val="4"/>
          <c:order val="4"/>
          <c:tx>
            <c:strRef>
              <c:f>'NIGERIA COMPARISM'!$F$3:$F$4</c:f>
              <c:strCache>
                <c:ptCount val="1"/>
                <c:pt idx="0">
                  <c:v>United States of America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'NIGERIA COMPARISM'!$A$5:$A$27</c:f>
              <c:strCache>
                <c:ptCount val="2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</c:strCache>
            </c:strRef>
          </c:cat>
          <c:val>
            <c:numRef>
              <c:f>'NIGERIA COMPARISM'!$F$5:$F$27</c:f>
              <c:numCache>
                <c:formatCode>0</c:formatCode>
                <c:ptCount val="22"/>
                <c:pt idx="0">
                  <c:v>76.628433799999996</c:v>
                </c:pt>
                <c:pt idx="1">
                  <c:v>76.72203193</c:v>
                </c:pt>
                <c:pt idx="2">
                  <c:v>76.823332426666667</c:v>
                </c:pt>
                <c:pt idx="3">
                  <c:v>76.965146899999993</c:v>
                </c:pt>
                <c:pt idx="4">
                  <c:v>77.371571469999992</c:v>
                </c:pt>
                <c:pt idx="5">
                  <c:v>77.364025756666663</c:v>
                </c:pt>
                <c:pt idx="6">
                  <c:v>77.662530966666665</c:v>
                </c:pt>
                <c:pt idx="7">
                  <c:v>77.920358843333346</c:v>
                </c:pt>
                <c:pt idx="8">
                  <c:v>78.032151220000003</c:v>
                </c:pt>
                <c:pt idx="9">
                  <c:v>78.405473213333323</c:v>
                </c:pt>
                <c:pt idx="10">
                  <c:v>78.589548696666668</c:v>
                </c:pt>
                <c:pt idx="11">
                  <c:v>78.639089720000001</c:v>
                </c:pt>
                <c:pt idx="12">
                  <c:v>78.760327229999987</c:v>
                </c:pt>
                <c:pt idx="13">
                  <c:v>78.753466413333328</c:v>
                </c:pt>
                <c:pt idx="14">
                  <c:v>78.798352403333325</c:v>
                </c:pt>
                <c:pt idx="15">
                  <c:v>78.614625279999998</c:v>
                </c:pt>
                <c:pt idx="16">
                  <c:v>78.56499864333334</c:v>
                </c:pt>
                <c:pt idx="17">
                  <c:v>78.511425289999991</c:v>
                </c:pt>
                <c:pt idx="18">
                  <c:v>78.641099189999991</c:v>
                </c:pt>
                <c:pt idx="19">
                  <c:v>78.752244239999996</c:v>
                </c:pt>
                <c:pt idx="20">
                  <c:v>76.926676506666666</c:v>
                </c:pt>
                <c:pt idx="21">
                  <c:v>76.414743250000001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B36F-46FA-880E-222A3FD4F3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50920928"/>
        <c:axId val="1450911328"/>
      </c:lineChart>
      <c:catAx>
        <c:axId val="1450920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0911328"/>
        <c:crosses val="autoZero"/>
        <c:auto val="1"/>
        <c:lblAlgn val="ctr"/>
        <c:lblOffset val="100"/>
        <c:noMultiLvlLbl val="0"/>
      </c:catAx>
      <c:valAx>
        <c:axId val="1450911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0920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[Life Expectancy at Birth Analysis.csv.xlsx]GENDER GAP ANALYSIS!PivotTable10</c:name>
    <c:fmtId val="2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GENDER GAP ANALYSIS</a:t>
            </a:r>
          </a:p>
          <a:p>
            <a:pPr>
              <a:defRPr/>
            </a:pP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1039730499238251E-2"/>
          <c:y val="0.23116981247426788"/>
          <c:w val="0.87084683239455163"/>
          <c:h val="0.51699538517237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'GENDER GAP ANALYSIS'!$B$3:$B$4</c:f>
              <c:strCache>
                <c:ptCount val="1"/>
                <c:pt idx="0">
                  <c:v>FEMALE</c:v>
                </c:pt>
              </c:strCache>
            </c:strRef>
          </c:tx>
          <c:spPr>
            <a:blipFill>
              <a:blip xmlns:r="http://schemas.openxmlformats.org/officeDocument/2006/relationships" r:embed="rId3">
                <a:duotone>
                  <a:schemeClr val="accent1">
                    <a:shade val="74000"/>
                    <a:satMod val="130000"/>
                    <a:lumMod val="90000"/>
                  </a:schemeClr>
                  <a:schemeClr val="accent1">
                    <a:tint val="94000"/>
                    <a:satMod val="120000"/>
                    <a:lumMod val="104000"/>
                  </a:schemeClr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38100" dist="25400" dir="5400000" rotWithShape="0">
                <a:srgbClr val="000000">
                  <a:alpha val="60000"/>
                </a:srgbClr>
              </a:outerShdw>
            </a:effectLst>
          </c:spPr>
          <c:invertIfNegative val="0"/>
          <c:cat>
            <c:strRef>
              <c:f>'GENDER GAP ANALYSIS'!$A$5:$A$27</c:f>
              <c:strCache>
                <c:ptCount val="2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</c:strCache>
            </c:strRef>
          </c:cat>
          <c:val>
            <c:numRef>
              <c:f>'GENDER GAP ANALYSIS'!$B$5:$B$27</c:f>
              <c:numCache>
                <c:formatCode>0</c:formatCode>
                <c:ptCount val="22"/>
                <c:pt idx="0">
                  <c:v>69.437130871836715</c:v>
                </c:pt>
                <c:pt idx="1">
                  <c:v>69.732171844591832</c:v>
                </c:pt>
                <c:pt idx="2">
                  <c:v>69.941818508724495</c:v>
                </c:pt>
                <c:pt idx="3">
                  <c:v>70.193546828775538</c:v>
                </c:pt>
                <c:pt idx="4">
                  <c:v>70.516692608163311</c:v>
                </c:pt>
                <c:pt idx="5">
                  <c:v>70.910308011887793</c:v>
                </c:pt>
                <c:pt idx="6">
                  <c:v>71.363830769489823</c:v>
                </c:pt>
                <c:pt idx="7">
                  <c:v>71.76034495801018</c:v>
                </c:pt>
                <c:pt idx="8">
                  <c:v>72.107389096479594</c:v>
                </c:pt>
                <c:pt idx="9">
                  <c:v>72.498737373265314</c:v>
                </c:pt>
                <c:pt idx="10">
                  <c:v>72.710191838673452</c:v>
                </c:pt>
                <c:pt idx="11">
                  <c:v>73.145985781938748</c:v>
                </c:pt>
                <c:pt idx="12">
                  <c:v>73.480254591734749</c:v>
                </c:pt>
                <c:pt idx="13">
                  <c:v>73.7938462020918</c:v>
                </c:pt>
                <c:pt idx="14">
                  <c:v>73.979419017193905</c:v>
                </c:pt>
                <c:pt idx="15">
                  <c:v>74.158347260510197</c:v>
                </c:pt>
                <c:pt idx="16">
                  <c:v>74.428120063418362</c:v>
                </c:pt>
                <c:pt idx="17">
                  <c:v>74.643161204795874</c:v>
                </c:pt>
                <c:pt idx="18">
                  <c:v>74.890028206734684</c:v>
                </c:pt>
                <c:pt idx="19">
                  <c:v>75.054214361071331</c:v>
                </c:pt>
                <c:pt idx="20">
                  <c:v>74.710644513367356</c:v>
                </c:pt>
                <c:pt idx="21">
                  <c:v>73.751249293877521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EA-4B12-A3E8-160BF04B392E}"/>
            </c:ext>
          </c:extLst>
        </c:ser>
        <c:ser>
          <c:idx val="1"/>
          <c:order val="1"/>
          <c:tx>
            <c:strRef>
              <c:f>'GENDER GAP ANALYSIS'!$C$3:$C$4</c:f>
              <c:strCache>
                <c:ptCount val="1"/>
                <c:pt idx="0">
                  <c:v>MALE</c:v>
                </c:pt>
              </c:strCache>
            </c:strRef>
          </c:tx>
          <c:spPr>
            <a:blipFill>
              <a:blip xmlns:r="http://schemas.openxmlformats.org/officeDocument/2006/relationships" r:embed="rId3">
                <a:duotone>
                  <a:schemeClr val="accent2">
                    <a:shade val="74000"/>
                    <a:satMod val="130000"/>
                    <a:lumMod val="90000"/>
                  </a:schemeClr>
                  <a:schemeClr val="accent2">
                    <a:tint val="94000"/>
                    <a:satMod val="120000"/>
                    <a:lumMod val="104000"/>
                  </a:schemeClr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38100" dist="25400" dir="5400000" rotWithShape="0">
                <a:srgbClr val="000000">
                  <a:alpha val="60000"/>
                </a:srgbClr>
              </a:outerShdw>
            </a:effectLst>
          </c:spPr>
          <c:invertIfNegative val="0"/>
          <c:cat>
            <c:strRef>
              <c:f>'GENDER GAP ANALYSIS'!$A$5:$A$27</c:f>
              <c:strCache>
                <c:ptCount val="2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</c:strCache>
            </c:strRef>
          </c:cat>
          <c:val>
            <c:numRef>
              <c:f>'GENDER GAP ANALYSIS'!$C$5:$C$27</c:f>
              <c:numCache>
                <c:formatCode>0</c:formatCode>
                <c:ptCount val="22"/>
                <c:pt idx="0">
                  <c:v>64.555616091224493</c:v>
                </c:pt>
                <c:pt idx="1">
                  <c:v>64.913798148979623</c:v>
                </c:pt>
                <c:pt idx="2">
                  <c:v>65.170207886989814</c:v>
                </c:pt>
                <c:pt idx="3">
                  <c:v>65.466951206938759</c:v>
                </c:pt>
                <c:pt idx="4">
                  <c:v>65.814639725714272</c:v>
                </c:pt>
                <c:pt idx="5">
                  <c:v>66.140095260765293</c:v>
                </c:pt>
                <c:pt idx="6">
                  <c:v>66.575891333877578</c:v>
                </c:pt>
                <c:pt idx="7">
                  <c:v>66.918518010612246</c:v>
                </c:pt>
                <c:pt idx="8">
                  <c:v>67.246630522959222</c:v>
                </c:pt>
                <c:pt idx="9">
                  <c:v>67.646035661734686</c:v>
                </c:pt>
                <c:pt idx="10">
                  <c:v>67.967248691734653</c:v>
                </c:pt>
                <c:pt idx="11">
                  <c:v>68.348616933928525</c:v>
                </c:pt>
                <c:pt idx="12">
                  <c:v>68.648446008418361</c:v>
                </c:pt>
                <c:pt idx="13">
                  <c:v>68.963091740867355</c:v>
                </c:pt>
                <c:pt idx="14">
                  <c:v>69.103486978367329</c:v>
                </c:pt>
                <c:pt idx="15">
                  <c:v>69.298827053928591</c:v>
                </c:pt>
                <c:pt idx="16">
                  <c:v>69.553562650765272</c:v>
                </c:pt>
                <c:pt idx="17">
                  <c:v>69.78535610673471</c:v>
                </c:pt>
                <c:pt idx="18">
                  <c:v>70.022941230867403</c:v>
                </c:pt>
                <c:pt idx="19">
                  <c:v>70.262661933673485</c:v>
                </c:pt>
                <c:pt idx="20">
                  <c:v>69.514841653724474</c:v>
                </c:pt>
                <c:pt idx="21">
                  <c:v>68.904388887653099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EA-4B12-A3E8-160BF04B39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519478608"/>
        <c:axId val="1519486288"/>
      </c:barChart>
      <c:catAx>
        <c:axId val="1519478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486288"/>
        <c:crosses val="autoZero"/>
        <c:auto val="1"/>
        <c:lblAlgn val="ctr"/>
        <c:lblOffset val="100"/>
        <c:noMultiLvlLbl val="0"/>
      </c:catAx>
      <c:valAx>
        <c:axId val="15194862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4786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5BA7822-BA3E-47F5-8E26-21FB306CAF1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C7C507D-1E21-450F-BEB6-91FF45967C2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578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7822-BA3E-47F5-8E26-21FB306CAF1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07D-1E21-450F-BEB6-91FF45967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061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7822-BA3E-47F5-8E26-21FB306CAF1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07D-1E21-450F-BEB6-91FF45967C21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006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7822-BA3E-47F5-8E26-21FB306CAF1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07D-1E21-450F-BEB6-91FF45967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842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7822-BA3E-47F5-8E26-21FB306CAF1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07D-1E21-450F-BEB6-91FF45967C21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468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7822-BA3E-47F5-8E26-21FB306CAF1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07D-1E21-450F-BEB6-91FF45967C2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558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7822-BA3E-47F5-8E26-21FB306CAF1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07D-1E21-450F-BEB6-91FF45967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97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7822-BA3E-47F5-8E26-21FB306CAF1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07D-1E21-450F-BEB6-91FF45967C21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797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7822-BA3E-47F5-8E26-21FB306CAF1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07D-1E21-450F-BEB6-91FF45967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826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7822-BA3E-47F5-8E26-21FB306CAF1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07D-1E21-450F-BEB6-91FF45967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143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7822-BA3E-47F5-8E26-21FB306CAF1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07D-1E21-450F-BEB6-91FF45967C2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0380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7822-BA3E-47F5-8E26-21FB306CAF1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07D-1E21-450F-BEB6-91FF45967C2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016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7822-BA3E-47F5-8E26-21FB306CAF1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07D-1E21-450F-BEB6-91FF45967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579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7822-BA3E-47F5-8E26-21FB306CAF1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07D-1E21-450F-BEB6-91FF45967C2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9241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7822-BA3E-47F5-8E26-21FB306CAF1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07D-1E21-450F-BEB6-91FF45967C2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2777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7822-BA3E-47F5-8E26-21FB306CAF1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07D-1E21-450F-BEB6-91FF45967C2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6188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7822-BA3E-47F5-8E26-21FB306CAF1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07D-1E21-450F-BEB6-91FF45967C2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2794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5BA7822-BA3E-47F5-8E26-21FB306CAF1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C7C507D-1E21-450F-BEB6-91FF45967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94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16" r:id="rId3"/>
    <p:sldLayoutId id="2147484017" r:id="rId4"/>
    <p:sldLayoutId id="2147484018" r:id="rId5"/>
    <p:sldLayoutId id="2147484019" r:id="rId6"/>
    <p:sldLayoutId id="2147484020" r:id="rId7"/>
    <p:sldLayoutId id="2147484021" r:id="rId8"/>
    <p:sldLayoutId id="2147484022" r:id="rId9"/>
    <p:sldLayoutId id="2147484023" r:id="rId10"/>
    <p:sldLayoutId id="2147484024" r:id="rId11"/>
    <p:sldLayoutId id="2147484025" r:id="rId12"/>
    <p:sldLayoutId id="2147484026" r:id="rId13"/>
    <p:sldLayoutId id="2147484027" r:id="rId14"/>
    <p:sldLayoutId id="2147484028" r:id="rId15"/>
    <p:sldLayoutId id="2147484029" r:id="rId16"/>
    <p:sldLayoutId id="2147484030" r:id="rId17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9ECE6-F76B-FFD9-9FA9-C90E31ABEB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1314" y="1545771"/>
            <a:ext cx="7532915" cy="979716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LIFE EXPECTANCY AT BIRTH: A DATA-DRIVEN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A644B-1551-3E6D-6612-8BCA9EE833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Exploring Patterns, Inequalities, and Gender Differences (2000–2021)</a:t>
            </a:r>
          </a:p>
          <a:p>
            <a:endParaRPr lang="en-US" b="1" dirty="0"/>
          </a:p>
          <a:p>
            <a:r>
              <a:rPr lang="en-US" b="1" dirty="0"/>
              <a:t>Joyce </a:t>
            </a:r>
            <a:r>
              <a:rPr lang="en-US" b="1" dirty="0" err="1"/>
              <a:t>Ebruphiyo</a:t>
            </a:r>
            <a:r>
              <a:rPr lang="en-US" b="1" dirty="0"/>
              <a:t> </a:t>
            </a:r>
            <a:r>
              <a:rPr lang="en-US" b="1" dirty="0" err="1"/>
              <a:t>Etata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468334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758B8-A7BB-93CD-346B-9B06E4926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F9E1C-4553-5987-D160-E6961E397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What is this dataset about?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dataset contains 12936 rows and 15 columns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Contains life expectancy data across multiple countries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Covers both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male, female and total sexes populations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Spans across multiple years (2000–2021) 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Key Variables: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Country (Geo-Name-Short)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Year (DIM-Time)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Gender (DIM-Sex)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Life Expectancy (Amount-N)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Purpose of Analysis: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explore trends, comparisons, and disparities in global life expectancy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04493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ECC0A-53D4-9ACD-D808-451360129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9095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 OBSERVATIONS AT FIRST GLANCE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0E012-5C83-0441-93AC-2ECE6566A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9572" y="2449286"/>
            <a:ext cx="9601196" cy="3502782"/>
          </a:xfrm>
        </p:spPr>
        <p:txBody>
          <a:bodyPr/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At first glance, the dataset shows: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Life expectancy varies significantly across countries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Data is structured and suitable for trend analysis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Includes both global patterns and gender differences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Some countries appear to consistently perform better than others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7782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0D679-316E-AE49-595C-4C18FD452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KEY QUESTIONS(IDENTIFYING MY CURIOSITY)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55F62-BA93-0AC2-EC7E-9A5943BA8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This analysis is guided by three main questions: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How has global life expectancy changed over time, and what does this suggest about global development?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Which countries lead in life expectancy, and what does this reveal about global inequality?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How does Nigeria compare to the global average and what role does gender play?</a:t>
            </a:r>
          </a:p>
        </p:txBody>
      </p:sp>
    </p:spTree>
    <p:extLst>
      <p:ext uri="{BB962C8B-B14F-4D97-AF65-F5344CB8AC3E}">
        <p14:creationId xmlns:p14="http://schemas.microsoft.com/office/powerpoint/2010/main" val="1212948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9933F-D684-4698-B9F9-E188038F3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06148"/>
            <a:ext cx="3233057" cy="785585"/>
          </a:xfrm>
        </p:spPr>
        <p:txBody>
          <a:bodyPr>
            <a:normAutofit/>
          </a:bodyPr>
          <a:lstStyle/>
          <a:p>
            <a:pPr algn="ctr"/>
            <a:r>
              <a:rPr lang="en-US" sz="1400" b="1" dirty="0"/>
              <a:t>INSIGHTS FROM VISUALIZATIONS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8C6DA7A-F7BC-F2A7-6CDF-13983B4D2B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4048642"/>
              </p:ext>
            </p:extLst>
          </p:nvPr>
        </p:nvGraphicFramePr>
        <p:xfrm>
          <a:off x="3853543" y="722085"/>
          <a:ext cx="4169228" cy="1781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4B8B9-8DC4-0FFE-5E48-62EDDA8FF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088571"/>
            <a:ext cx="3069772" cy="530134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1400" b="1" dirty="0"/>
              <a:t>1. Global Trend</a:t>
            </a:r>
          </a:p>
          <a:p>
            <a:pPr algn="l"/>
            <a:r>
              <a:rPr lang="en-US" sz="1400" dirty="0"/>
              <a:t>Life expectancy has steadily increased over time </a:t>
            </a:r>
          </a:p>
          <a:p>
            <a:pPr algn="l"/>
            <a:r>
              <a:rPr lang="en-US" sz="1400" dirty="0"/>
              <a:t>Indicates improvements in healthcare, nutrition, and living conditions </a:t>
            </a:r>
          </a:p>
          <a:p>
            <a:pPr algn="l"/>
            <a:r>
              <a:rPr lang="en-US" sz="1400" b="1" dirty="0"/>
              <a:t>2. Top &amp; Bottom Countries</a:t>
            </a:r>
          </a:p>
          <a:p>
            <a:pPr algn="l"/>
            <a:r>
              <a:rPr lang="en-US" sz="1400" dirty="0"/>
              <a:t>Some countries consistently rank high in life expectancy Others remain significantly lower </a:t>
            </a:r>
          </a:p>
          <a:p>
            <a:r>
              <a:rPr lang="en-US" sz="1400" dirty="0"/>
              <a:t>This highlights </a:t>
            </a:r>
            <a:r>
              <a:rPr lang="en-US" sz="1400" b="1" dirty="0"/>
              <a:t>global inequality in health outcomes</a:t>
            </a:r>
            <a:endParaRPr lang="en-US" sz="1400" dirty="0"/>
          </a:p>
          <a:p>
            <a:pPr algn="l"/>
            <a:r>
              <a:rPr lang="en-US" sz="1400" b="1" dirty="0"/>
              <a:t>3. Nigeria vs Global Average</a:t>
            </a:r>
          </a:p>
          <a:p>
            <a:pPr algn="l"/>
            <a:r>
              <a:rPr lang="en-US" sz="1400" dirty="0"/>
              <a:t>Nigeria consistently falls below the global average </a:t>
            </a:r>
          </a:p>
          <a:p>
            <a:pPr algn="l"/>
            <a:r>
              <a:rPr lang="en-US" sz="1400" dirty="0"/>
              <a:t>Suggests disparities in healthcare access and development </a:t>
            </a:r>
          </a:p>
          <a:p>
            <a:pPr algn="l"/>
            <a:r>
              <a:rPr lang="en-US" sz="1400" b="1" dirty="0"/>
              <a:t>4. Gender Comparison</a:t>
            </a:r>
          </a:p>
          <a:p>
            <a:pPr algn="l"/>
            <a:r>
              <a:rPr lang="en-US" sz="1400" dirty="0"/>
              <a:t>Female life expectancy is higher than male across most years </a:t>
            </a:r>
          </a:p>
          <a:p>
            <a:pPr algn="l"/>
            <a:r>
              <a:rPr lang="en-US" sz="1400" dirty="0"/>
              <a:t>Likely influenced by biological and lifestyle factors </a:t>
            </a:r>
          </a:p>
          <a:p>
            <a:endParaRPr lang="en-US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E3B67FB-BA0D-6DB1-FBD2-13D8AAC265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3703921"/>
              </p:ext>
            </p:extLst>
          </p:nvPr>
        </p:nvGraphicFramePr>
        <p:xfrm>
          <a:off x="3842656" y="2564039"/>
          <a:ext cx="4060373" cy="2114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F1EAF3A-383E-5655-322B-63252A6447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3062659"/>
              </p:ext>
            </p:extLst>
          </p:nvPr>
        </p:nvGraphicFramePr>
        <p:xfrm>
          <a:off x="7962901" y="2750003"/>
          <a:ext cx="3559629" cy="1862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DE8FEA1-3B2C-FBEB-8899-5248C50439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7002758"/>
              </p:ext>
            </p:extLst>
          </p:nvPr>
        </p:nvGraphicFramePr>
        <p:xfrm>
          <a:off x="8022772" y="475796"/>
          <a:ext cx="3559629" cy="20279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10313517-3B6E-373F-5B8C-F8C660BC0D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7574227"/>
              </p:ext>
            </p:extLst>
          </p:nvPr>
        </p:nvGraphicFramePr>
        <p:xfrm>
          <a:off x="3679372" y="4678589"/>
          <a:ext cx="7903030" cy="1319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7538430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4FE1A-8C61-423F-0B16-8D33B7654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81037"/>
            <a:ext cx="9601196" cy="9953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CONCLUSION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71E12-CC91-4426-B19D-551714C916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1629" y="2460171"/>
            <a:ext cx="4615542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b="1" dirty="0"/>
              <a:t>Conclusion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sz="1900" dirty="0"/>
              <a:t>Global life expectancy is improving over time </a:t>
            </a:r>
          </a:p>
          <a:p>
            <a:r>
              <a:rPr lang="en-US" sz="1900" dirty="0"/>
              <a:t>However, significant inequalities still exist between countries </a:t>
            </a:r>
          </a:p>
          <a:p>
            <a:r>
              <a:rPr lang="en-US" sz="1900" dirty="0"/>
              <a:t>Gender differences remain consistent across regions </a:t>
            </a:r>
          </a:p>
          <a:p>
            <a:r>
              <a:rPr lang="en-US" sz="1900" dirty="0"/>
              <a:t>Overall, the data reflects both progress and disparity in global health.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460441-B975-B11F-988C-949A90898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8627" y="2460171"/>
            <a:ext cx="4184034" cy="331154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b="1" dirty="0"/>
              <a:t>Limitation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sz="1800" dirty="0"/>
              <a:t>Dataset does not include causes (e.g., income, healthcare quality) </a:t>
            </a:r>
          </a:p>
          <a:p>
            <a:r>
              <a:rPr lang="en-US" sz="1800" dirty="0"/>
              <a:t>Limited to available countries and years </a:t>
            </a:r>
          </a:p>
          <a:p>
            <a:r>
              <a:rPr lang="en-US" sz="1800" dirty="0"/>
              <a:t>Assumes data accuracy without external validation</a:t>
            </a:r>
          </a:p>
          <a:p>
            <a:r>
              <a:rPr lang="en-US" sz="1800" dirty="0"/>
              <a:t>Data Lag: The most recent data point is from 2021; current trends in 2024-2026 may differ. 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Impact of COVID-19: The 2020-2021 data points reflect an anomalous period in global </a:t>
            </a:r>
          </a:p>
          <a:p>
            <a:pPr marL="0" indent="0">
              <a:buNone/>
            </a:pPr>
            <a:r>
              <a:rPr lang="en-US" sz="1800" dirty="0"/>
              <a:t>health history</a:t>
            </a:r>
          </a:p>
        </p:txBody>
      </p:sp>
    </p:spTree>
    <p:extLst>
      <p:ext uri="{BB962C8B-B14F-4D97-AF65-F5344CB8AC3E}">
        <p14:creationId xmlns:p14="http://schemas.microsoft.com/office/powerpoint/2010/main" val="3285205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322</TotalTime>
  <Words>430</Words>
  <Application>Microsoft Office PowerPoint</Application>
  <PresentationFormat>Widescreen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Garamond</vt:lpstr>
      <vt:lpstr>Organic</vt:lpstr>
      <vt:lpstr>LIFE EXPECTANCY AT BIRTH: A DATA-DRIVEN ANALYSIS</vt:lpstr>
      <vt:lpstr>DATASET OVERVIEW</vt:lpstr>
      <vt:lpstr> OBSERVATIONS AT FIRST GLANCE</vt:lpstr>
      <vt:lpstr>KEY QUESTIONS(IDENTIFYING MY CURIOSITY)</vt:lpstr>
      <vt:lpstr>INSIGHTS FROM VISUALIZATIONS</vt:lpstr>
      <vt:lpstr>CONCLUSION &amp;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JOYCE EBRUPHIYO ETATA</dc:creator>
  <cp:lastModifiedBy>JOYCE EBRUPHIYO ETATA</cp:lastModifiedBy>
  <cp:revision>6</cp:revision>
  <dcterms:created xsi:type="dcterms:W3CDTF">2026-04-12T00:17:27Z</dcterms:created>
  <dcterms:modified xsi:type="dcterms:W3CDTF">2026-04-12T05:39:43Z</dcterms:modified>
</cp:coreProperties>
</file>